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2C67F-0334-4B7B-90B5-0594C7F6A071}" v="266" dt="2023-10-23T08:12:03.233"/>
    <p1510:client id="{57B3A23E-CA75-4EB1-8FAE-2DA158394F6C}" v="214" dt="2023-10-15T11:34:53.241"/>
    <p1510:client id="{64EABFA8-B97B-4F7D-8559-DA6B896EFAA0}" v="264" dt="2023-08-29T14:40:04.557"/>
    <p1510:client id="{7A657882-7BF1-4452-940E-4152233F0BB0}" v="729" dt="2023-08-26T09:40:50.197"/>
    <p1510:client id="{A1A655DC-01B8-41A7-97F8-08DE328F6F7D}" v="2069" dt="2023-08-29T09:35:29.418"/>
    <p1510:client id="{B6663A6A-6BEE-46EB-8278-303A03470EAE}" v="70" dt="2023-10-17T07:01:43.968"/>
    <p1510:client id="{D8DDAC55-5AB5-43DB-958B-06D12C715AF1}" v="754" dt="2023-09-02T09:10:05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9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4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5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6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0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27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2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8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4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76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0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7568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4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23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88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95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83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44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Введение</a:t>
            </a:r>
            <a:r>
              <a:rPr lang="en-US" dirty="0"/>
              <a:t> в </a:t>
            </a:r>
            <a:r>
              <a:rPr lang="en-US" dirty="0" err="1"/>
              <a:t>эллиптические</a:t>
            </a:r>
            <a:r>
              <a:rPr lang="en-US" dirty="0"/>
              <a:t> </a:t>
            </a:r>
            <a:r>
              <a:rPr lang="en-US" dirty="0" err="1"/>
              <a:t>кривые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F326-E64F-56C1-0E65-597FD985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4" y="226994"/>
            <a:ext cx="11663860" cy="6323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 err="1"/>
              <a:t>Тем</a:t>
            </a:r>
            <a:r>
              <a:rPr lang="en-US" sz="3200" dirty="0"/>
              <a:t>, </a:t>
            </a:r>
            <a:r>
              <a:rPr lang="en-US" sz="3200" dirty="0" err="1"/>
              <a:t>кто</a:t>
            </a:r>
            <a:r>
              <a:rPr lang="en-US" sz="3200" dirty="0"/>
              <a:t> </a:t>
            </a:r>
            <a:r>
              <a:rPr lang="en-US" sz="3200" dirty="0" err="1"/>
              <a:t>знаком</a:t>
            </a:r>
            <a:r>
              <a:rPr lang="en-US" sz="3200" dirty="0"/>
              <a:t> с </a:t>
            </a:r>
            <a:r>
              <a:rPr lang="en-US" sz="3200" dirty="0" err="1"/>
              <a:t>криптографией</a:t>
            </a:r>
            <a:r>
              <a:rPr lang="en-US" sz="3200" dirty="0"/>
              <a:t> с </a:t>
            </a:r>
            <a:r>
              <a:rPr lang="en-US" sz="3200" dirty="0" err="1"/>
              <a:t>открытым</a:t>
            </a:r>
            <a:r>
              <a:rPr lang="en-US" sz="3200" dirty="0"/>
              <a:t> </a:t>
            </a:r>
            <a:r>
              <a:rPr lang="en-US" sz="3200" dirty="0" err="1"/>
              <a:t>ключом</a:t>
            </a:r>
            <a:r>
              <a:rPr lang="en-US" sz="3200" dirty="0"/>
              <a:t>, </a:t>
            </a:r>
            <a:r>
              <a:rPr lang="en-US" sz="3200" dirty="0" err="1"/>
              <a:t>наверно</a:t>
            </a:r>
            <a:r>
              <a:rPr lang="en-US" sz="3200" dirty="0"/>
              <a:t> </a:t>
            </a:r>
            <a:r>
              <a:rPr lang="en-US" sz="3200" dirty="0" err="1"/>
              <a:t>известны</a:t>
            </a:r>
            <a:r>
              <a:rPr lang="en-US" sz="3200" dirty="0"/>
              <a:t> </a:t>
            </a:r>
            <a:r>
              <a:rPr lang="en-US" sz="3200" dirty="0" err="1"/>
              <a:t>аббревиатуры</a:t>
            </a:r>
            <a:r>
              <a:rPr lang="en-US" sz="3200" dirty="0"/>
              <a:t> ECC, ECDH и ECDSA. </a:t>
            </a:r>
            <a:r>
              <a:rPr lang="en-US" sz="3200" dirty="0" err="1"/>
              <a:t>Первая</a:t>
            </a:r>
            <a:r>
              <a:rPr lang="en-US" sz="3200" dirty="0"/>
              <a:t> — </a:t>
            </a:r>
            <a:r>
              <a:rPr lang="en-US" sz="3200" dirty="0" err="1"/>
              <a:t>это</a:t>
            </a:r>
            <a:r>
              <a:rPr lang="en-US" sz="3200" dirty="0"/>
              <a:t> </a:t>
            </a:r>
            <a:r>
              <a:rPr lang="en-US" sz="3200" dirty="0" err="1"/>
              <a:t>сокращение</a:t>
            </a:r>
            <a:r>
              <a:rPr lang="en-US" sz="3200" dirty="0"/>
              <a:t> </a:t>
            </a:r>
            <a:r>
              <a:rPr lang="en-US" sz="3200" dirty="0" err="1"/>
              <a:t>от</a:t>
            </a:r>
            <a:r>
              <a:rPr lang="en-US" sz="3200" dirty="0"/>
              <a:t> Elliptic Curve Cryptography (</a:t>
            </a:r>
            <a:r>
              <a:rPr lang="en-US" sz="3200" dirty="0" err="1"/>
              <a:t>криптография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эллиптических</a:t>
            </a:r>
            <a:r>
              <a:rPr lang="en-US" sz="3200" dirty="0"/>
              <a:t> </a:t>
            </a:r>
            <a:r>
              <a:rPr lang="en-US" sz="3200" dirty="0" err="1"/>
              <a:t>кривых</a:t>
            </a:r>
            <a:r>
              <a:rPr lang="en-US" sz="3200" dirty="0"/>
              <a:t>), </a:t>
            </a:r>
            <a:r>
              <a:rPr lang="en-US" sz="3200" dirty="0" err="1"/>
              <a:t>остальные</a:t>
            </a:r>
            <a:r>
              <a:rPr lang="en-US" sz="3200" dirty="0"/>
              <a:t> — </a:t>
            </a:r>
            <a:r>
              <a:rPr lang="en-US" sz="3200" dirty="0" err="1"/>
              <a:t>это</a:t>
            </a:r>
            <a:r>
              <a:rPr lang="en-US" sz="3200" dirty="0"/>
              <a:t> </a:t>
            </a:r>
            <a:r>
              <a:rPr lang="en-US" sz="3200" dirty="0" err="1"/>
              <a:t>названия</a:t>
            </a:r>
            <a:r>
              <a:rPr lang="en-US" sz="3200" dirty="0"/>
              <a:t> </a:t>
            </a:r>
            <a:r>
              <a:rPr lang="en-US" sz="3200" dirty="0" err="1"/>
              <a:t>основанных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ней</a:t>
            </a:r>
            <a:r>
              <a:rPr lang="en-US" sz="3200" dirty="0"/>
              <a:t> </a:t>
            </a:r>
            <a:r>
              <a:rPr lang="en-US" sz="3200" dirty="0" err="1"/>
              <a:t>алгоритмов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048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A173-FFBE-037A-C243-90A8AEE8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50" y="126148"/>
            <a:ext cx="11834134" cy="6540400"/>
          </a:xfrm>
        </p:spPr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эллиптическая</a:t>
            </a:r>
            <a:r>
              <a:rPr lang="en-US" dirty="0"/>
              <a:t> </a:t>
            </a:r>
            <a:r>
              <a:rPr lang="en-US" dirty="0" err="1"/>
              <a:t>кривая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Эллиптическая</a:t>
            </a:r>
            <a:r>
              <a:rPr lang="en-US" dirty="0"/>
              <a:t> </a:t>
            </a:r>
            <a:r>
              <a:rPr lang="en-US" dirty="0" err="1"/>
              <a:t>кривая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, </a:t>
            </a:r>
            <a:r>
              <a:rPr lang="en-US" dirty="0" err="1"/>
              <a:t>описывающихся</a:t>
            </a:r>
            <a:r>
              <a:rPr lang="en-US" dirty="0"/>
              <a:t> </a:t>
            </a:r>
            <a:r>
              <a:rPr lang="en-US" dirty="0" err="1"/>
              <a:t>уравнением</a:t>
            </a:r>
            <a:r>
              <a:rPr lang="en-US" dirty="0"/>
              <a:t> </a:t>
            </a:r>
            <a:r>
              <a:rPr lang="en-US" dirty="0" err="1"/>
              <a:t>Вейерштрасса</a:t>
            </a:r>
            <a:r>
              <a:rPr lang="en-US" dirty="0"/>
              <a:t>: </a:t>
            </a:r>
            <a:br>
              <a:rPr lang="en-US" dirty="0"/>
            </a:br>
            <a:r>
              <a:rPr lang="en-US" dirty="0"/>
              <a:t>У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a,b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: 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E60B3-4990-8FEF-4B9E-EA43B32C4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127" y="2844263"/>
            <a:ext cx="4633355" cy="5757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AF25C7-9977-602B-FC73-196508224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491" y="4174506"/>
            <a:ext cx="4009901" cy="5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9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lines&#10;&#10;Description automatically generated">
            <a:extLst>
              <a:ext uri="{FF2B5EF4-FFF2-40B4-BE49-F238E27FC236}">
                <a16:creationId xmlns:a16="http://schemas.microsoft.com/office/drawing/2014/main" id="{83C31E4C-B620-4AAC-FCAE-A205E8FC7E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4"/>
          <a:stretch/>
        </p:blipFill>
        <p:spPr>
          <a:xfrm>
            <a:off x="-2" y="10"/>
            <a:ext cx="6094407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FC34-675A-6890-02C2-95D18551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926" y="63335"/>
            <a:ext cx="4010367" cy="665018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err="1">
                <a:ea typeface="+mj-lt"/>
                <a:cs typeface="+mj-lt"/>
              </a:rPr>
              <a:t>Типичные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варианты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графиков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эллиптических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кривых</a:t>
            </a:r>
            <a:r>
              <a:rPr lang="en-US" sz="2800" dirty="0">
                <a:ea typeface="+mj-lt"/>
                <a:cs typeface="+mj-lt"/>
              </a:rPr>
              <a:t>:</a:t>
            </a:r>
          </a:p>
          <a:p>
            <a:pPr>
              <a:buClr>
                <a:srgbClr val="8AD0D6"/>
              </a:buClr>
            </a:pPr>
            <a:r>
              <a:rPr lang="en-US" sz="2800" err="1"/>
              <a:t>Эллиптические</a:t>
            </a:r>
            <a:r>
              <a:rPr lang="en-US" sz="2800" dirty="0"/>
              <a:t> </a:t>
            </a:r>
            <a:r>
              <a:rPr lang="en-US" sz="2800" err="1"/>
              <a:t>кривые</a:t>
            </a:r>
            <a:r>
              <a:rPr lang="en-US" sz="2800" dirty="0"/>
              <a:t> </a:t>
            </a:r>
            <a:r>
              <a:rPr lang="en-US" sz="2800" err="1"/>
              <a:t>представленые</a:t>
            </a:r>
            <a:r>
              <a:rPr lang="en-US" sz="2800" dirty="0"/>
              <a:t> </a:t>
            </a:r>
            <a:r>
              <a:rPr lang="en-US" sz="2800" err="1"/>
              <a:t>на</a:t>
            </a:r>
            <a:r>
              <a:rPr lang="en-US" sz="2800" dirty="0"/>
              <a:t> </a:t>
            </a:r>
            <a:r>
              <a:rPr lang="en-US" sz="2800" err="1"/>
              <a:t>первых</a:t>
            </a:r>
            <a:r>
              <a:rPr lang="en-US" sz="2800" dirty="0"/>
              <a:t> 4-х </a:t>
            </a:r>
            <a:r>
              <a:rPr lang="en-US" sz="2800" err="1"/>
              <a:t>рисунках</a:t>
            </a:r>
            <a:r>
              <a:rPr lang="en-US" sz="2800" dirty="0"/>
              <a:t> </a:t>
            </a:r>
            <a:r>
              <a:rPr lang="en-US" sz="2800" err="1"/>
              <a:t>называются</a:t>
            </a:r>
            <a:r>
              <a:rPr lang="en-US" sz="2800" dirty="0"/>
              <a:t> </a:t>
            </a:r>
            <a:r>
              <a:rPr lang="en-US" sz="2800" err="1"/>
              <a:t>гладкими</a:t>
            </a:r>
            <a:r>
              <a:rPr lang="en-US" sz="2800" dirty="0"/>
              <a:t>. В </a:t>
            </a:r>
            <a:r>
              <a:rPr lang="en-US" sz="2800" err="1"/>
              <a:t>то</a:t>
            </a:r>
            <a:r>
              <a:rPr lang="en-US" sz="2800" dirty="0"/>
              <a:t> </a:t>
            </a:r>
            <a:r>
              <a:rPr lang="en-US" sz="2800" err="1"/>
              <a:t>время</a:t>
            </a:r>
            <a:r>
              <a:rPr lang="en-US" sz="2800" dirty="0"/>
              <a:t> </a:t>
            </a:r>
            <a:r>
              <a:rPr lang="en-US" sz="2800" err="1"/>
              <a:t>как</a:t>
            </a:r>
            <a:r>
              <a:rPr lang="en-US" sz="2800" dirty="0"/>
              <a:t> </a:t>
            </a:r>
            <a:r>
              <a:rPr lang="en-US" sz="2800" err="1"/>
              <a:t>две</a:t>
            </a:r>
            <a:r>
              <a:rPr lang="en-US" sz="2800" dirty="0"/>
              <a:t> </a:t>
            </a:r>
            <a:r>
              <a:rPr lang="en-US" sz="2800" err="1"/>
              <a:t>нижние</a:t>
            </a:r>
            <a:r>
              <a:rPr lang="en-US" sz="2800" dirty="0"/>
              <a:t> </a:t>
            </a:r>
            <a:r>
              <a:rPr lang="en-US" sz="2800" err="1"/>
              <a:t>кривые</a:t>
            </a:r>
            <a:r>
              <a:rPr lang="en-US" sz="2800" dirty="0"/>
              <a:t> </a:t>
            </a:r>
            <a:r>
              <a:rPr lang="en-US" sz="2800" err="1"/>
              <a:t>относятся</a:t>
            </a:r>
            <a:r>
              <a:rPr lang="en-US" sz="2800" dirty="0"/>
              <a:t> к </a:t>
            </a:r>
            <a:r>
              <a:rPr lang="en-US" sz="2800" err="1"/>
              <a:t>т.н</a:t>
            </a:r>
            <a:r>
              <a:rPr lang="en-US" sz="2800" dirty="0"/>
              <a:t>. </a:t>
            </a:r>
            <a:r>
              <a:rPr lang="en-US" sz="2800" err="1">
                <a:solidFill>
                  <a:srgbClr val="FF0000"/>
                </a:solidFill>
              </a:rPr>
              <a:t>сингулярным</a:t>
            </a:r>
            <a:r>
              <a:rPr lang="en-US" sz="2800" dirty="0"/>
              <a:t> </a:t>
            </a:r>
            <a:r>
              <a:rPr lang="en-US" sz="2800" err="1"/>
              <a:t>эллиптическим</a:t>
            </a:r>
            <a:r>
              <a:rPr lang="en-US" sz="2800" dirty="0"/>
              <a:t> </a:t>
            </a:r>
            <a:r>
              <a:rPr lang="en-US" sz="2800" err="1"/>
              <a:t>кривым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346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1F54-BC23-E5D3-9949-629B37465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94" y="113282"/>
            <a:ext cx="11945060" cy="6629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/>
              <a:t>Сингулирные</a:t>
            </a:r>
            <a:r>
              <a:rPr lang="en-US" sz="2800" dirty="0"/>
              <a:t> </a:t>
            </a:r>
            <a:r>
              <a:rPr lang="en-US" sz="2800" dirty="0" err="1"/>
              <a:t>эллиптические</a:t>
            </a:r>
            <a:r>
              <a:rPr lang="en-US" sz="2800" dirty="0"/>
              <a:t> - </a:t>
            </a:r>
            <a:r>
              <a:rPr lang="en-US" sz="2800" dirty="0" err="1"/>
              <a:t>те</a:t>
            </a:r>
            <a:r>
              <a:rPr lang="en-US" sz="2800" dirty="0"/>
              <a:t> </a:t>
            </a:r>
            <a:r>
              <a:rPr lang="en-US" sz="2800" dirty="0" err="1"/>
              <a:t>кривые</a:t>
            </a:r>
            <a:r>
              <a:rPr lang="en-US" sz="2800" dirty="0"/>
              <a:t>, </a:t>
            </a:r>
            <a:r>
              <a:rPr lang="en-US" sz="2800" dirty="0" err="1"/>
              <a:t>которые</a:t>
            </a:r>
            <a:r>
              <a:rPr lang="en-US" sz="2800" dirty="0"/>
              <a:t> </a:t>
            </a:r>
            <a:r>
              <a:rPr lang="en-US" sz="2800" dirty="0" err="1"/>
              <a:t>не</a:t>
            </a:r>
            <a:r>
              <a:rPr lang="en-US" sz="2800" dirty="0"/>
              <a:t> </a:t>
            </a:r>
            <a:r>
              <a:rPr lang="en-US" sz="2800" dirty="0" err="1"/>
              <a:t>относятся</a:t>
            </a:r>
            <a:r>
              <a:rPr lang="en-US" sz="2800" dirty="0"/>
              <a:t> к </a:t>
            </a:r>
            <a:r>
              <a:rPr lang="en-US" sz="2800" dirty="0" err="1"/>
              <a:t>понятию</a:t>
            </a:r>
            <a:r>
              <a:rPr lang="en-US" sz="2800" dirty="0"/>
              <a:t> "</a:t>
            </a:r>
            <a:r>
              <a:rPr lang="en-US" sz="2800" dirty="0" err="1"/>
              <a:t>гладкие</a:t>
            </a:r>
            <a:r>
              <a:rPr lang="en-US" sz="2800" dirty="0"/>
              <a:t> </a:t>
            </a:r>
            <a:r>
              <a:rPr lang="en-US" sz="2800" dirty="0" err="1"/>
              <a:t>кривые</a:t>
            </a:r>
            <a:r>
              <a:rPr lang="en-US" sz="2800" dirty="0"/>
              <a:t>". 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 sz="2800" dirty="0"/>
              <a:t>К </a:t>
            </a:r>
            <a:r>
              <a:rPr lang="en-US" sz="2800" dirty="0" err="1"/>
              <a:t>сингулярным</a:t>
            </a:r>
            <a:r>
              <a:rPr lang="en-US" sz="2800" dirty="0"/>
              <a:t> </a:t>
            </a:r>
            <a:r>
              <a:rPr lang="en-US" sz="2800" dirty="0" err="1"/>
              <a:t>кривым</a:t>
            </a:r>
            <a:r>
              <a:rPr lang="en-US" sz="2800" dirty="0"/>
              <a:t> </a:t>
            </a:r>
            <a:r>
              <a:rPr lang="en-US" sz="2800" dirty="0" err="1"/>
              <a:t>условие</a:t>
            </a:r>
            <a:r>
              <a:rPr lang="en-US" sz="2800" dirty="0"/>
              <a:t>(</a:t>
            </a:r>
            <a:r>
              <a:rPr lang="en-US" sz="2800" dirty="0" err="1"/>
              <a:t>неравенство</a:t>
            </a:r>
            <a:r>
              <a:rPr lang="en-US" sz="2800" dirty="0"/>
              <a:t>) </a:t>
            </a:r>
            <a:r>
              <a:rPr lang="en-US" sz="2800" dirty="0" err="1"/>
              <a:t>a,b</a:t>
            </a:r>
            <a:r>
              <a:rPr lang="en-US" sz="2800" dirty="0"/>
              <a:t> </a:t>
            </a:r>
            <a:r>
              <a:rPr lang="en-US" sz="2800" dirty="0" err="1"/>
              <a:t>не</a:t>
            </a:r>
            <a:r>
              <a:rPr lang="en-US" sz="2800" dirty="0"/>
              <a:t> </a:t>
            </a:r>
            <a:r>
              <a:rPr lang="en-US" sz="2800" dirty="0" err="1"/>
              <a:t>отсится</a:t>
            </a:r>
            <a:r>
              <a:rPr lang="en-US" sz="2800" dirty="0"/>
              <a:t>, </a:t>
            </a:r>
            <a:r>
              <a:rPr lang="en-US" sz="2800" dirty="0" err="1"/>
              <a:t>т.к</a:t>
            </a:r>
            <a:r>
              <a:rPr lang="en-US" sz="2800" dirty="0"/>
              <a:t> </a:t>
            </a:r>
            <a:r>
              <a:rPr lang="en-US" sz="2800" dirty="0" err="1"/>
              <a:t>результат</a:t>
            </a:r>
            <a:r>
              <a:rPr lang="en-US" sz="2800" dirty="0"/>
              <a:t> </a:t>
            </a:r>
            <a:r>
              <a:rPr lang="en-US" sz="2800" dirty="0" err="1"/>
              <a:t>будет</a:t>
            </a:r>
            <a:r>
              <a:rPr lang="en-US" sz="2800" dirty="0"/>
              <a:t> </a:t>
            </a:r>
            <a:r>
              <a:rPr lang="en-US" sz="2800" dirty="0" err="1"/>
              <a:t>равен</a:t>
            </a:r>
            <a:r>
              <a:rPr lang="en-US" sz="2800" dirty="0"/>
              <a:t> </a:t>
            </a:r>
            <a:r>
              <a:rPr lang="en-US" sz="2800" dirty="0" err="1"/>
              <a:t>нулю</a:t>
            </a:r>
            <a:r>
              <a:rPr lang="en-US" sz="2800" dirty="0"/>
              <a:t>. </a:t>
            </a:r>
            <a:r>
              <a:rPr lang="en-US" sz="2800" dirty="0" err="1"/>
              <a:t>Нельзя</a:t>
            </a:r>
            <a:r>
              <a:rPr lang="en-US" sz="2800" dirty="0"/>
              <a:t> </a:t>
            </a:r>
            <a:r>
              <a:rPr lang="en-US" sz="2800" dirty="0" err="1"/>
              <a:t>использовать</a:t>
            </a:r>
            <a:r>
              <a:rPr lang="en-US" sz="2800" dirty="0"/>
              <a:t> в </a:t>
            </a:r>
            <a:r>
              <a:rPr lang="en-US" sz="2800" dirty="0" err="1"/>
              <a:t>схемах</a:t>
            </a:r>
            <a:r>
              <a:rPr lang="en-US" sz="2800" dirty="0"/>
              <a:t> ЭЦП </a:t>
            </a:r>
            <a:r>
              <a:rPr lang="en-US" sz="2800" dirty="0" err="1"/>
              <a:t>сингулярные</a:t>
            </a:r>
            <a:r>
              <a:rPr lang="en-US" sz="2800" dirty="0"/>
              <a:t> </a:t>
            </a:r>
            <a:r>
              <a:rPr lang="en-US" sz="2800" dirty="0" err="1"/>
              <a:t>кривые</a:t>
            </a:r>
            <a:r>
              <a:rPr lang="en-US" sz="2800" dirty="0"/>
              <a:t>(</a:t>
            </a:r>
            <a:r>
              <a:rPr lang="en-US" sz="2800" dirty="0" err="1"/>
              <a:t>низкая</a:t>
            </a:r>
            <a:r>
              <a:rPr lang="en-US" sz="2800" dirty="0"/>
              <a:t> </a:t>
            </a:r>
            <a:r>
              <a:rPr lang="en-US" sz="2800" dirty="0" err="1"/>
              <a:t>криптостойкость</a:t>
            </a:r>
            <a:r>
              <a:rPr lang="en-US" sz="2800" dirty="0"/>
              <a:t>).</a:t>
            </a:r>
          </a:p>
          <a:p>
            <a:pPr>
              <a:buClr>
                <a:srgbClr val="8AD0D6"/>
              </a:buClr>
            </a:pPr>
            <a:r>
              <a:rPr lang="en-US" sz="2800" dirty="0" err="1"/>
              <a:t>Скалярное</a:t>
            </a:r>
            <a:r>
              <a:rPr lang="en-US" sz="2800" dirty="0"/>
              <a:t> </a:t>
            </a:r>
            <a:r>
              <a:rPr lang="en-US" sz="2800" dirty="0" err="1"/>
              <a:t>умножение</a:t>
            </a:r>
            <a:r>
              <a:rPr lang="en-US" sz="2800" dirty="0"/>
              <a:t> </a:t>
            </a:r>
            <a:r>
              <a:rPr lang="en-US" sz="2800" dirty="0">
                <a:ea typeface="+mj-lt"/>
                <a:cs typeface="+mj-lt"/>
              </a:rPr>
              <a:t>- </a:t>
            </a:r>
            <a:r>
              <a:rPr lang="en-US" sz="2800" dirty="0" err="1">
                <a:ea typeface="+mj-lt"/>
                <a:cs typeface="+mj-lt"/>
              </a:rPr>
              <a:t>это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dirty="0" err="1">
                <a:ea typeface="+mj-lt"/>
                <a:cs typeface="+mj-lt"/>
              </a:rPr>
              <a:t>удвоение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dirty="0" err="1">
                <a:ea typeface="+mj-lt"/>
                <a:cs typeface="+mj-lt"/>
              </a:rPr>
              <a:t>точки</a:t>
            </a:r>
            <a:r>
              <a:rPr lang="en-US" sz="2800" dirty="0">
                <a:ea typeface="+mj-lt"/>
                <a:cs typeface="+mj-lt"/>
              </a:rPr>
              <a:t> n </a:t>
            </a:r>
            <a:r>
              <a:rPr lang="en-US" sz="2800" dirty="0" err="1">
                <a:ea typeface="+mj-lt"/>
                <a:cs typeface="+mj-lt"/>
              </a:rPr>
              <a:t>раз</a:t>
            </a:r>
            <a:r>
              <a:rPr lang="en-US" sz="2800" dirty="0">
                <a:ea typeface="+mj-lt"/>
                <a:cs typeface="+mj-lt"/>
              </a:rPr>
              <a:t>:</a:t>
            </a:r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(2P = P + P); 3P = 2P + P и </a:t>
            </a:r>
            <a:r>
              <a:rPr lang="en-US" sz="2800" dirty="0" err="1">
                <a:ea typeface="+mj-lt"/>
                <a:cs typeface="+mj-lt"/>
              </a:rPr>
              <a:t>тд</a:t>
            </a:r>
            <a:r>
              <a:rPr lang="en-US" sz="2800" dirty="0">
                <a:ea typeface="+mj-lt"/>
                <a:cs typeface="+mj-lt"/>
              </a:rPr>
              <a:t>. </a:t>
            </a:r>
          </a:p>
          <a:p>
            <a:pPr>
              <a:buClr>
                <a:srgbClr val="8AD0D6"/>
              </a:buClr>
            </a:pP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 err="1"/>
              <a:t>Свойство</a:t>
            </a:r>
            <a:r>
              <a:rPr lang="en-US" sz="2800" dirty="0"/>
              <a:t> </a:t>
            </a:r>
            <a:r>
              <a:rPr lang="en-US" sz="2800" dirty="0" err="1"/>
              <a:t>коммутативности</a:t>
            </a:r>
            <a:r>
              <a:rPr lang="en-US" sz="2800" dirty="0"/>
              <a:t>: a + b = b + a (</a:t>
            </a:r>
            <a:r>
              <a:rPr lang="en-US" sz="2800" dirty="0" err="1"/>
              <a:t>Абелева</a:t>
            </a:r>
            <a:r>
              <a:rPr lang="en-US" sz="2800" dirty="0"/>
              <a:t> </a:t>
            </a:r>
            <a:r>
              <a:rPr lang="en-US" sz="2800" dirty="0" err="1"/>
              <a:t>группа</a:t>
            </a:r>
            <a:r>
              <a:rPr lang="en-US" sz="2800" dirty="0"/>
              <a:t>)</a:t>
            </a:r>
          </a:p>
          <a:p>
            <a:pPr>
              <a:buClr>
                <a:srgbClr val="8AD0D6"/>
              </a:buClr>
            </a:pPr>
            <a:endParaRPr lang="en-US" sz="2800" dirty="0"/>
          </a:p>
          <a:p>
            <a:pPr>
              <a:buClr>
                <a:srgbClr val="8AD0D6"/>
              </a:buClr>
            </a:pPr>
            <a:endParaRPr lang="en-US" sz="2800" dirty="0"/>
          </a:p>
          <a:p>
            <a:pPr>
              <a:buClr>
                <a:srgbClr val="8AD0D6"/>
              </a:buClr>
            </a:pPr>
            <a:endParaRPr lang="en-US" sz="28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B87AFF-1EE9-CF4F-CB0D-6DCE50EC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236" y="3093784"/>
            <a:ext cx="2686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3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 descr="A white sheet with black text&#10;&#10;Description automatically generated">
            <a:extLst>
              <a:ext uri="{FF2B5EF4-FFF2-40B4-BE49-F238E27FC236}">
                <a16:creationId xmlns:a16="http://schemas.microsoft.com/office/drawing/2014/main" id="{77E4F19F-3647-8117-149F-1A58BC00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538" y="744402"/>
            <a:ext cx="6716590" cy="6111402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5E1D-4DA6-8FE7-4F71-FA4B7BAF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EBEBEB"/>
                </a:solidFill>
              </a:rPr>
              <a:t>Эллиптические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кривые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так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же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бывают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разные</a:t>
            </a:r>
            <a:r>
              <a:rPr lang="en-US" dirty="0">
                <a:solidFill>
                  <a:srgbClr val="EBEBEB"/>
                </a:solidFill>
              </a:rPr>
              <a:t>, в </a:t>
            </a:r>
            <a:r>
              <a:rPr lang="en-US" dirty="0" err="1">
                <a:solidFill>
                  <a:srgbClr val="EBEBEB"/>
                </a:solidFill>
              </a:rPr>
              <a:t>зависимости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от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множества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чисел</a:t>
            </a:r>
            <a:r>
              <a:rPr lang="en-US" dirty="0">
                <a:solidFill>
                  <a:srgbClr val="EBEBEB"/>
                </a:solidFill>
              </a:rPr>
              <a:t>.</a:t>
            </a:r>
          </a:p>
          <a:p>
            <a:pPr>
              <a:buClr>
                <a:srgbClr val="F7F7F7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R - </a:t>
            </a:r>
            <a:r>
              <a:rPr lang="en-US" dirty="0" err="1">
                <a:solidFill>
                  <a:srgbClr val="EBEBEB"/>
                </a:solidFill>
              </a:rPr>
              <a:t>действительные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числа</a:t>
            </a:r>
            <a:r>
              <a:rPr lang="en-US" dirty="0">
                <a:solidFill>
                  <a:srgbClr val="EBEBEB"/>
                </a:solidFill>
              </a:rPr>
              <a:t>, Q - </a:t>
            </a:r>
            <a:r>
              <a:rPr lang="en-US" dirty="0" err="1">
                <a:solidFill>
                  <a:srgbClr val="EBEBEB"/>
                </a:solidFill>
              </a:rPr>
              <a:t>рациональные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числа</a:t>
            </a:r>
            <a:r>
              <a:rPr lang="en-US" dirty="0">
                <a:solidFill>
                  <a:srgbClr val="EBEBEB"/>
                </a:solidFill>
              </a:rPr>
              <a:t>, С - </a:t>
            </a:r>
            <a:r>
              <a:rPr lang="en-US" dirty="0" err="1">
                <a:solidFill>
                  <a:srgbClr val="EBEBEB"/>
                </a:solidFill>
              </a:rPr>
              <a:t>комплексные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числа</a:t>
            </a:r>
            <a:r>
              <a:rPr lang="en-US" dirty="0">
                <a:solidFill>
                  <a:srgbClr val="EBEBEB"/>
                </a:solidFill>
              </a:rPr>
              <a:t>, 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Z/</a:t>
            </a:r>
            <a:r>
              <a:rPr lang="en-US" dirty="0" err="1">
                <a:solidFill>
                  <a:srgbClr val="EBEBEB"/>
                </a:solidFill>
                <a:ea typeface="+mj-lt"/>
                <a:cs typeface="+mj-lt"/>
              </a:rPr>
              <a:t>Zq</a:t>
            </a:r>
            <a:r>
              <a:rPr lang="en-US" dirty="0">
                <a:solidFill>
                  <a:srgbClr val="EBEBEB"/>
                </a:solidFill>
              </a:rPr>
              <a:t> - </a:t>
            </a:r>
            <a:r>
              <a:rPr lang="en-US" dirty="0" err="1">
                <a:solidFill>
                  <a:srgbClr val="EBEBEB"/>
                </a:solidFill>
              </a:rPr>
              <a:t>целые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числа</a:t>
            </a:r>
            <a:r>
              <a:rPr lang="en-US" dirty="0">
                <a:solidFill>
                  <a:srgbClr val="EBEBEB"/>
                </a:solidFill>
              </a:rPr>
              <a:t> в </a:t>
            </a:r>
            <a:r>
              <a:rPr lang="en-US" dirty="0" err="1">
                <a:solidFill>
                  <a:srgbClr val="EBEBEB"/>
                </a:solidFill>
              </a:rPr>
              <a:t>конечном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поле</a:t>
            </a:r>
            <a:r>
              <a:rPr lang="en-US" dirty="0">
                <a:solidFill>
                  <a:srgbClr val="EBEBE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8402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Description automatically generated">
            <a:extLst>
              <a:ext uri="{FF2B5EF4-FFF2-40B4-BE49-F238E27FC236}">
                <a16:creationId xmlns:a16="http://schemas.microsoft.com/office/drawing/2014/main" id="{CB3A2A75-C79A-4672-22E0-669E8B738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697" y="152867"/>
            <a:ext cx="11472029" cy="6550752"/>
          </a:xfrm>
        </p:spPr>
      </p:pic>
    </p:spTree>
    <p:extLst>
      <p:ext uri="{BB962C8B-B14F-4D97-AF65-F5344CB8AC3E}">
        <p14:creationId xmlns:p14="http://schemas.microsoft.com/office/powerpoint/2010/main" val="138736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lorful object on a white background">
            <a:extLst>
              <a:ext uri="{FF2B5EF4-FFF2-40B4-BE49-F238E27FC236}">
                <a16:creationId xmlns:a16="http://schemas.microsoft.com/office/drawing/2014/main" id="{00149FD3-DBC8-E00E-670F-C110C42BB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729" y="182555"/>
            <a:ext cx="10002590" cy="6540856"/>
          </a:xfrm>
        </p:spPr>
      </p:pic>
    </p:spTree>
    <p:extLst>
      <p:ext uri="{BB962C8B-B14F-4D97-AF65-F5344CB8AC3E}">
        <p14:creationId xmlns:p14="http://schemas.microsoft.com/office/powerpoint/2010/main" val="1257348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Description automatically generated">
            <a:extLst>
              <a:ext uri="{FF2B5EF4-FFF2-40B4-BE49-F238E27FC236}">
                <a16:creationId xmlns:a16="http://schemas.microsoft.com/office/drawing/2014/main" id="{76BCB8E4-02CD-1696-8828-FDF2BF50A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24" y="182554"/>
            <a:ext cx="11743511" cy="6580441"/>
          </a:xfrm>
        </p:spPr>
      </p:pic>
    </p:spTree>
    <p:extLst>
      <p:ext uri="{BB962C8B-B14F-4D97-AF65-F5344CB8AC3E}">
        <p14:creationId xmlns:p14="http://schemas.microsoft.com/office/powerpoint/2010/main" val="420476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243E3-B1C1-5F20-8B96-E47EF8972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42" y="208844"/>
            <a:ext cx="4660397" cy="62407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err="1">
                <a:solidFill>
                  <a:srgbClr val="EBEBEB"/>
                </a:solidFill>
              </a:rPr>
              <a:t>З</a:t>
            </a:r>
            <a:r>
              <a:rPr lang="en-US" err="1">
                <a:solidFill>
                  <a:srgbClr val="EBEBEB"/>
                </a:solidFill>
              </a:rPr>
              <a:t>ачем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это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все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нужно</a:t>
            </a:r>
            <a:r>
              <a:rPr lang="en-US" dirty="0">
                <a:solidFill>
                  <a:srgbClr val="EBEBEB"/>
                </a:solidFill>
              </a:rPr>
              <a:t> и </a:t>
            </a:r>
            <a:r>
              <a:rPr lang="en-US" err="1">
                <a:solidFill>
                  <a:srgbClr val="EBEBEB"/>
                </a:solidFill>
              </a:rPr>
              <a:t>что</a:t>
            </a:r>
            <a:r>
              <a:rPr lang="en-US" dirty="0">
                <a:solidFill>
                  <a:srgbClr val="EBEBEB"/>
                </a:solidFill>
              </a:rPr>
              <a:t> в </a:t>
            </a:r>
            <a:r>
              <a:rPr lang="en-US" err="1">
                <a:solidFill>
                  <a:srgbClr val="EBEBEB"/>
                </a:solidFill>
              </a:rPr>
              <a:t>этом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особенного</a:t>
            </a:r>
            <a:r>
              <a:rPr lang="en-US" dirty="0">
                <a:solidFill>
                  <a:srgbClr val="EBEBEB"/>
                </a:solidFill>
              </a:rPr>
              <a:t>?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err="1">
                <a:solidFill>
                  <a:srgbClr val="EBEBEB"/>
                </a:solidFill>
              </a:rPr>
              <a:t>Более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короткие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ключи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шифрования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используют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меньше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ресурсов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памяти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процессора</a:t>
            </a:r>
            <a:r>
              <a:rPr lang="en-US" dirty="0">
                <a:solidFill>
                  <a:srgbClr val="EBEBEB"/>
                </a:solidFill>
              </a:rPr>
              <a:t>. </a:t>
            </a:r>
            <a:r>
              <a:rPr lang="en-US" err="1">
                <a:solidFill>
                  <a:srgbClr val="EBEBEB"/>
                </a:solidFill>
              </a:rPr>
              <a:t>Это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очень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важно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err="1">
                <a:solidFill>
                  <a:srgbClr val="EBEBEB"/>
                </a:solidFill>
              </a:rPr>
              <a:t>т.к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шифрование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используется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даже</a:t>
            </a:r>
            <a:r>
              <a:rPr lang="en-US" dirty="0">
                <a:solidFill>
                  <a:srgbClr val="EBEBEB"/>
                </a:solidFill>
              </a:rPr>
              <a:t> в </a:t>
            </a:r>
            <a:r>
              <a:rPr lang="en-US" err="1">
                <a:solidFill>
                  <a:srgbClr val="EBEBEB"/>
                </a:solidFill>
              </a:rPr>
              <a:t>мобильных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гаджетах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err="1">
                <a:solidFill>
                  <a:srgbClr val="EBEBEB"/>
                </a:solidFill>
              </a:rPr>
              <a:t>где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вычеслительный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ресурс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err="1">
                <a:solidFill>
                  <a:srgbClr val="EBEBEB"/>
                </a:solidFill>
              </a:rPr>
              <a:t>небольшой</a:t>
            </a:r>
            <a:r>
              <a:rPr lang="en-US" dirty="0">
                <a:solidFill>
                  <a:srgbClr val="EBEBEB"/>
                </a:solidFill>
              </a:rPr>
              <a:t>.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err="1">
                <a:solidFill>
                  <a:srgbClr val="EBEBEB"/>
                </a:solidFill>
              </a:rPr>
              <a:t>Диаграмма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сравнения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err="1">
                <a:solidFill>
                  <a:srgbClr val="EBEBEB"/>
                </a:solidFill>
              </a:rPr>
              <a:t>ключей</a:t>
            </a:r>
            <a:r>
              <a:rPr lang="en-US" dirty="0">
                <a:solidFill>
                  <a:srgbClr val="EBEBEB"/>
                </a:solidFill>
              </a:rPr>
              <a:t> и </a:t>
            </a:r>
            <a:r>
              <a:rPr lang="en-US" err="1">
                <a:solidFill>
                  <a:srgbClr val="EBEBEB"/>
                </a:solidFill>
              </a:rPr>
              <a:t>битов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для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криптографических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протоколов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использующих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err="1">
                <a:solidFill>
                  <a:srgbClr val="EBEBEB"/>
                </a:solidFill>
              </a:rPr>
              <a:t>мультипликативную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группу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целых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чисел</a:t>
            </a:r>
            <a:r>
              <a:rPr lang="en-US" dirty="0">
                <a:solidFill>
                  <a:srgbClr val="EBEBEB"/>
                </a:solidFill>
              </a:rPr>
              <a:t> в </a:t>
            </a:r>
            <a:r>
              <a:rPr lang="en-US" err="1">
                <a:solidFill>
                  <a:srgbClr val="EBEBEB"/>
                </a:solidFill>
              </a:rPr>
              <a:t>по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модулю</a:t>
            </a:r>
            <a:r>
              <a:rPr lang="en-US" dirty="0">
                <a:solidFill>
                  <a:srgbClr val="EBEBEB"/>
                </a:solidFill>
              </a:rPr>
              <a:t>: </a:t>
            </a:r>
          </a:p>
        </p:txBody>
      </p:sp>
      <p:pic>
        <p:nvPicPr>
          <p:cNvPr id="4" name="Picture 3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DDA491EB-5D34-3793-B856-4422B6459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535" y="1516547"/>
            <a:ext cx="6117770" cy="358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40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0EAC6-8F3A-7EAA-8832-4E9766FEB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39" y="212617"/>
            <a:ext cx="11836389" cy="64527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Вычисление</a:t>
            </a:r>
            <a:r>
              <a:rPr lang="en-US" dirty="0"/>
              <a:t> </a:t>
            </a:r>
            <a:r>
              <a:rPr lang="en-US" dirty="0" err="1"/>
              <a:t>точек</a:t>
            </a:r>
            <a:r>
              <a:rPr lang="en-US" dirty="0"/>
              <a:t>.</a:t>
            </a: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 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параметра</a:t>
            </a:r>
            <a:r>
              <a:rPr lang="en-US" dirty="0"/>
              <a:t>: a, b, p. </a:t>
            </a:r>
            <a:r>
              <a:rPr lang="en-US" dirty="0" err="1"/>
              <a:t>Допустим</a:t>
            </a:r>
            <a:r>
              <a:rPr lang="en-US" dirty="0"/>
              <a:t>: а = 2, b = 1, p = 5.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проверяем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неравенства</a:t>
            </a:r>
            <a:r>
              <a:rPr lang="en-US" dirty="0"/>
              <a:t>: 4 * 2^3 + 27 * 1^2 = 59 = 4 mod 5;</a:t>
            </a:r>
          </a:p>
          <a:p>
            <a:pPr>
              <a:buClr>
                <a:srgbClr val="8AD0D6"/>
              </a:buClr>
            </a:pPr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рисуем</a:t>
            </a:r>
            <a:r>
              <a:rPr lang="en-US" dirty="0"/>
              <a:t> </a:t>
            </a:r>
            <a:r>
              <a:rPr lang="en-US" dirty="0" err="1"/>
              <a:t>координатную</a:t>
            </a:r>
            <a:r>
              <a:rPr lang="en-US" dirty="0"/>
              <a:t> </a:t>
            </a:r>
            <a:r>
              <a:rPr lang="en-US" dirty="0" err="1"/>
              <a:t>плоскость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целых</a:t>
            </a:r>
            <a:r>
              <a:rPr lang="en-US" dirty="0"/>
              <a:t> </a:t>
            </a:r>
            <a:r>
              <a:rPr lang="en-US" dirty="0" err="1"/>
              <a:t>чисел</a:t>
            </a:r>
            <a:r>
              <a:rPr lang="en-US" dirty="0"/>
              <a:t> в </a:t>
            </a:r>
            <a:r>
              <a:rPr lang="en-US" dirty="0" err="1"/>
              <a:t>конечных</a:t>
            </a:r>
            <a:r>
              <a:rPr lang="en-US" dirty="0"/>
              <a:t> </a:t>
            </a:r>
            <a:r>
              <a:rPr lang="en-US" dirty="0" err="1"/>
              <a:t>полях</a:t>
            </a:r>
            <a:r>
              <a:rPr lang="en-US" dirty="0"/>
              <a:t>.</a:t>
            </a: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/>
              <a:t>ЛЧ: 0^2 = 0,</a:t>
            </a:r>
          </a:p>
          <a:p>
            <a:pPr>
              <a:buClr>
                <a:srgbClr val="8AD0D6"/>
              </a:buClr>
            </a:pPr>
            <a:r>
              <a:rPr lang="en-US" dirty="0"/>
              <a:t>1^2 = 1,</a:t>
            </a:r>
          </a:p>
          <a:p>
            <a:pPr>
              <a:buClr>
                <a:srgbClr val="8AD0D6"/>
              </a:buClr>
            </a:pPr>
            <a:r>
              <a:rPr lang="en-US" dirty="0"/>
              <a:t>2^2 = 4,</a:t>
            </a:r>
          </a:p>
          <a:p>
            <a:pPr>
              <a:buClr>
                <a:srgbClr val="8AD0D6"/>
              </a:buClr>
            </a:pPr>
            <a:r>
              <a:rPr lang="en-US" dirty="0"/>
              <a:t>3^2 = 9 = 4 mod 5,</a:t>
            </a:r>
          </a:p>
          <a:p>
            <a:pPr>
              <a:buClr>
                <a:srgbClr val="8AD0D6"/>
              </a:buClr>
            </a:pPr>
            <a:r>
              <a:rPr lang="en-US" dirty="0"/>
              <a:t>4^2 = 16 = 1 mod 5;</a:t>
            </a:r>
          </a:p>
          <a:p>
            <a:pPr>
              <a:buClr>
                <a:srgbClr val="8AD0D6"/>
              </a:buClr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4C5B1-AE61-7059-E327-B827CD41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882" y="428866"/>
            <a:ext cx="4633355" cy="575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E5F99F-AAA8-644C-7B86-947EB1551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189" y="997110"/>
            <a:ext cx="4009901" cy="53768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16D075-7518-F310-8D9B-D08FC900A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638363"/>
              </p:ext>
            </p:extLst>
          </p:nvPr>
        </p:nvGraphicFramePr>
        <p:xfrm>
          <a:off x="7878096" y="2839065"/>
          <a:ext cx="3964856" cy="349622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66408">
                  <a:extLst>
                    <a:ext uri="{9D8B030D-6E8A-4147-A177-3AD203B41FA5}">
                      <a16:colId xmlns:a16="http://schemas.microsoft.com/office/drawing/2014/main" val="843164127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670885337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3886886922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2971624087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1826846136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597289040"/>
                    </a:ext>
                  </a:extLst>
                </a:gridCol>
                <a:gridCol w="566408">
                  <a:extLst>
                    <a:ext uri="{9D8B030D-6E8A-4147-A177-3AD203B41FA5}">
                      <a16:colId xmlns:a16="http://schemas.microsoft.com/office/drawing/2014/main" val="1432462070"/>
                    </a:ext>
                  </a:extLst>
                </a:gridCol>
              </a:tblGrid>
              <a:tr h="4851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y\x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ЛЧ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93184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673586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112992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49156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313416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•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592397"/>
                  </a:ext>
                </a:extLst>
              </a:tr>
              <a:tr h="5018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ПЧ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437979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75F42D-890A-BCBD-0851-C016E2485DE0}"/>
              </a:ext>
            </a:extLst>
          </p:cNvPr>
          <p:cNvCxnSpPr/>
          <p:nvPr/>
        </p:nvCxnSpPr>
        <p:spPr>
          <a:xfrm flipH="1">
            <a:off x="3156820" y="2842499"/>
            <a:ext cx="19664" cy="2462980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96E419-FDD0-4E6B-C300-5794DE92035C}"/>
              </a:ext>
            </a:extLst>
          </p:cNvPr>
          <p:cNvSpPr txBox="1"/>
          <p:nvPr/>
        </p:nvSpPr>
        <p:spPr>
          <a:xfrm>
            <a:off x="3355257" y="3121742"/>
            <a:ext cx="4132005" cy="2144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r>
              <a:rPr lang="en-US" sz="2000" dirty="0"/>
              <a:t>ПЧ: 0^3 + 2 * 0 + 1 = 1</a:t>
            </a:r>
            <a:endParaRPr lang="en-US"/>
          </a:p>
          <a:p>
            <a:pPr>
              <a:spcBef>
                <a:spcPts val="1000"/>
              </a:spcBef>
            </a:pPr>
            <a:r>
              <a:rPr lang="en-US" sz="2000" dirty="0"/>
              <a:t>1^3 + 2 * 1 + 1 = 4</a:t>
            </a:r>
          </a:p>
          <a:p>
            <a:pPr>
              <a:spcBef>
                <a:spcPts val="1000"/>
              </a:spcBef>
            </a:pPr>
            <a:r>
              <a:rPr lang="en-US" sz="2000" dirty="0"/>
              <a:t>2^3 + 2 * 2 + 1 = 13 = 3 mod 5</a:t>
            </a:r>
          </a:p>
          <a:p>
            <a:pPr>
              <a:spcBef>
                <a:spcPts val="1000"/>
              </a:spcBef>
            </a:pPr>
            <a:r>
              <a:rPr lang="en-US" sz="2000" dirty="0"/>
              <a:t>3^3 + 2 * 3 + 1 = 34 = 4 mod 5</a:t>
            </a:r>
          </a:p>
          <a:p>
            <a:pPr>
              <a:spcBef>
                <a:spcPts val="1000"/>
              </a:spcBef>
            </a:pPr>
            <a:r>
              <a:rPr lang="en-US" sz="2000" dirty="0"/>
              <a:t>4^3 + 2 * 4 + 1 = 73 = 3 mod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B9248-ECF7-440F-A789-FE8F4E51FD90}"/>
              </a:ext>
            </a:extLst>
          </p:cNvPr>
          <p:cNvSpPr txBox="1"/>
          <p:nvPr/>
        </p:nvSpPr>
        <p:spPr>
          <a:xfrm>
            <a:off x="196644" y="5309419"/>
            <a:ext cx="749955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После</a:t>
            </a:r>
            <a:r>
              <a:rPr lang="en-US" dirty="0"/>
              <a:t> 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выставляем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в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пересечений</a:t>
            </a:r>
            <a:r>
              <a:rPr lang="en-US" dirty="0"/>
              <a:t> </a:t>
            </a:r>
            <a:r>
              <a:rPr lang="en-US" dirty="0" err="1"/>
              <a:t>одинаковых</a:t>
            </a:r>
            <a:r>
              <a:rPr lang="en-US" dirty="0"/>
              <a:t> </a:t>
            </a:r>
            <a:r>
              <a:rPr lang="en-US" dirty="0" err="1"/>
              <a:t>сторон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(ЛЧ, ПЧ).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выписываем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{X, Y}</a:t>
            </a:r>
          </a:p>
          <a:p>
            <a:r>
              <a:rPr lang="en-US" dirty="0"/>
              <a:t>O{∞,∞}, A{0,1}, B{0,4}, C{1,2}, D{1,3}, E{3,2}, F{3,3}.</a:t>
            </a:r>
          </a:p>
        </p:txBody>
      </p:sp>
    </p:spTree>
    <p:extLst>
      <p:ext uri="{BB962C8B-B14F-4D97-AF65-F5344CB8AC3E}">
        <p14:creationId xmlns:p14="http://schemas.microsoft.com/office/powerpoint/2010/main" val="396048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2E563836-075A-A1DC-4189-E121ED4B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892" y="1173968"/>
            <a:ext cx="5641989" cy="4894264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09EC-DBB6-9EFC-A7AE-FD9340B61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82" y="145997"/>
            <a:ext cx="4794038" cy="66093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rgbClr val="EBEBEB"/>
                </a:solidFill>
              </a:rPr>
              <a:t>Сложение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err="1">
                <a:solidFill>
                  <a:srgbClr val="EBEBEB"/>
                </a:solidFill>
              </a:rPr>
              <a:t>точек</a:t>
            </a:r>
            <a:endParaRPr lang="en-US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P + Q = -R</a:t>
            </a:r>
          </a:p>
          <a:p>
            <a:pPr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λ - </a:t>
            </a:r>
            <a:r>
              <a:rPr lang="en-US" dirty="0" err="1">
                <a:solidFill>
                  <a:srgbClr val="EBEBEB"/>
                </a:solidFill>
              </a:rPr>
              <a:t>это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MY" dirty="0" err="1">
                <a:solidFill>
                  <a:srgbClr val="EBEBEB"/>
                </a:solidFill>
              </a:rPr>
              <a:t>коэффициент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угла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наклна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dirty="0" err="1">
                <a:solidFill>
                  <a:srgbClr val="EBEBEB"/>
                </a:solidFill>
              </a:rPr>
              <a:t>или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tg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угла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наклона</a:t>
            </a:r>
            <a:r>
              <a:rPr lang="en-US" dirty="0">
                <a:solidFill>
                  <a:srgbClr val="EBEBEB"/>
                </a:solidFill>
              </a:rPr>
              <a:t>.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λ = </a:t>
            </a:r>
          </a:p>
          <a:p>
            <a:pPr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X3 = λ^2 - (</a:t>
            </a:r>
            <a:r>
              <a:rPr lang="en-US" dirty="0" err="1">
                <a:solidFill>
                  <a:srgbClr val="EBEBEB"/>
                </a:solidFill>
              </a:rPr>
              <a:t>Xp</a:t>
            </a:r>
            <a:r>
              <a:rPr lang="en-US" dirty="0">
                <a:solidFill>
                  <a:srgbClr val="EBEBEB"/>
                </a:solidFill>
              </a:rPr>
              <a:t> + </a:t>
            </a:r>
            <a:r>
              <a:rPr lang="en-US" dirty="0" err="1">
                <a:solidFill>
                  <a:srgbClr val="EBEBEB"/>
                </a:solidFill>
              </a:rPr>
              <a:t>Xq</a:t>
            </a:r>
            <a:r>
              <a:rPr lang="en-US" dirty="0">
                <a:solidFill>
                  <a:srgbClr val="EBEBEB"/>
                </a:solidFill>
              </a:rPr>
              <a:t>);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Y3 = λ(</a:t>
            </a:r>
            <a:r>
              <a:rPr lang="en-US" dirty="0" err="1">
                <a:solidFill>
                  <a:srgbClr val="EBEBEB"/>
                </a:solidFill>
              </a:rPr>
              <a:t>Xp</a:t>
            </a:r>
            <a:r>
              <a:rPr lang="en-US" dirty="0">
                <a:solidFill>
                  <a:srgbClr val="EBEBEB"/>
                </a:solidFill>
              </a:rPr>
              <a:t> - X3) - </a:t>
            </a:r>
            <a:r>
              <a:rPr lang="en-US" dirty="0" err="1">
                <a:solidFill>
                  <a:srgbClr val="EBEBEB"/>
                </a:solidFill>
              </a:rPr>
              <a:t>Yp</a:t>
            </a:r>
            <a:r>
              <a:rPr lang="en-US" dirty="0">
                <a:solidFill>
                  <a:srgbClr val="EBEBEB"/>
                </a:solidFill>
              </a:rPr>
              <a:t>; 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FBBFBB-3FC8-B615-59C9-98B53B3C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0405"/>
              </p:ext>
            </p:extLst>
          </p:nvPr>
        </p:nvGraphicFramePr>
        <p:xfrm>
          <a:off x="1120284" y="2180710"/>
          <a:ext cx="998191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191">
                  <a:extLst>
                    <a:ext uri="{9D8B030D-6E8A-4147-A177-3AD203B41FA5}">
                      <a16:colId xmlns:a16="http://schemas.microsoft.com/office/drawing/2014/main" val="3623804447"/>
                    </a:ext>
                  </a:extLst>
                </a:gridCol>
              </a:tblGrid>
              <a:tr h="226317">
                <a:tc>
                  <a:txBody>
                    <a:bodyPr/>
                    <a:lstStyle/>
                    <a:p>
                      <a:r>
                        <a:rPr lang="en-US" dirty="0" err="1"/>
                        <a:t>Yp</a:t>
                      </a:r>
                      <a:r>
                        <a:rPr lang="en-US" dirty="0"/>
                        <a:t> - </a:t>
                      </a:r>
                      <a:r>
                        <a:rPr lang="en-US" dirty="0" err="1"/>
                        <a:t>Yq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68178"/>
                  </a:ext>
                </a:extLst>
              </a:tr>
              <a:tr h="226317">
                <a:tc>
                  <a:txBody>
                    <a:bodyPr/>
                    <a:lstStyle/>
                    <a:p>
                      <a:r>
                        <a:rPr lang="en-US" err="1"/>
                        <a:t>Xp</a:t>
                      </a:r>
                      <a:r>
                        <a:rPr lang="en-US" dirty="0"/>
                        <a:t> - </a:t>
                      </a:r>
                      <a:r>
                        <a:rPr lang="en-US" err="1"/>
                        <a:t>Xq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794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82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Content Placeholder 3" descr="A graph of a function&#10;&#10;Description automatically generated">
            <a:extLst>
              <a:ext uri="{FF2B5EF4-FFF2-40B4-BE49-F238E27FC236}">
                <a16:creationId xmlns:a16="http://schemas.microsoft.com/office/drawing/2014/main" id="{CB8DD8E5-F68F-6528-357B-74F44E14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701" y="647698"/>
            <a:ext cx="5284470" cy="5562601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D1046E-A204-9E85-C709-B88B5DE9B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60" y="206829"/>
            <a:ext cx="4830537" cy="640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EBEBEB"/>
                </a:solidFill>
              </a:rPr>
              <a:t>Сложение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точек</a:t>
            </a: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</a:rPr>
              <a:t>P + P = R = 2P</a:t>
            </a:r>
          </a:p>
          <a:p>
            <a:pPr>
              <a:buClr>
                <a:srgbClr val="F7F7F7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</a:rPr>
              <a:t>λ = </a:t>
            </a:r>
          </a:p>
          <a:p>
            <a:pPr>
              <a:buClr>
                <a:srgbClr val="F7F7F7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</a:rPr>
              <a:t>X3 = λ^2 – 2*</a:t>
            </a:r>
            <a:r>
              <a:rPr lang="en-US" dirty="0" err="1">
                <a:solidFill>
                  <a:srgbClr val="EBEBEB"/>
                </a:solidFill>
              </a:rPr>
              <a:t>Xp</a:t>
            </a:r>
            <a:r>
              <a:rPr lang="en-US" dirty="0">
                <a:solidFill>
                  <a:srgbClr val="EBEBEB"/>
                </a:solidFill>
              </a:rPr>
              <a:t>;</a:t>
            </a: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</a:rPr>
              <a:t>Y3 = λ(</a:t>
            </a:r>
            <a:r>
              <a:rPr lang="en-US" dirty="0" err="1">
                <a:solidFill>
                  <a:srgbClr val="EBEBEB"/>
                </a:solidFill>
              </a:rPr>
              <a:t>Xp</a:t>
            </a:r>
            <a:r>
              <a:rPr lang="en-US" dirty="0">
                <a:solidFill>
                  <a:srgbClr val="EBEBEB"/>
                </a:solidFill>
              </a:rPr>
              <a:t> - X3) - </a:t>
            </a:r>
            <a:r>
              <a:rPr lang="en-US" dirty="0" err="1">
                <a:solidFill>
                  <a:srgbClr val="EBEBEB"/>
                </a:solidFill>
              </a:rPr>
              <a:t>Yp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24FEF6-7945-F480-06AE-59DB589D3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2612"/>
              </p:ext>
            </p:extLst>
          </p:nvPr>
        </p:nvGraphicFramePr>
        <p:xfrm>
          <a:off x="1098513" y="1396939"/>
          <a:ext cx="1618742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8742">
                  <a:extLst>
                    <a:ext uri="{9D8B030D-6E8A-4147-A177-3AD203B41FA5}">
                      <a16:colId xmlns:a16="http://schemas.microsoft.com/office/drawing/2014/main" val="3623804447"/>
                    </a:ext>
                  </a:extLst>
                </a:gridCol>
              </a:tblGrid>
              <a:tr h="2263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3*Xp^2 + a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68178"/>
                  </a:ext>
                </a:extLst>
              </a:tr>
              <a:tr h="2263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</a:t>
                      </a:r>
                      <a:r>
                        <a:rPr lang="en-US" dirty="0" err="1"/>
                        <a:t>Yp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794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487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7E6D-2718-A433-DFB8-3DA69576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98" y="104376"/>
            <a:ext cx="11842140" cy="66229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сложения</a:t>
            </a:r>
            <a:r>
              <a:rPr lang="en-US" dirty="0"/>
              <a:t> </a:t>
            </a:r>
            <a:r>
              <a:rPr lang="en-US" dirty="0" err="1"/>
              <a:t>точек</a:t>
            </a:r>
            <a:r>
              <a:rPr lang="en-US" dirty="0"/>
              <a:t> P+Q</a:t>
            </a:r>
            <a:endParaRPr lang="en-US" dirty="0" err="1"/>
          </a:p>
          <a:p>
            <a:pPr>
              <a:buClr>
                <a:srgbClr val="8AD0D6"/>
              </a:buClr>
            </a:pPr>
            <a:r>
              <a:rPr lang="en-US" dirty="0" err="1"/>
              <a:t>Возьмем</a:t>
            </a:r>
            <a:r>
              <a:rPr lang="en-US" dirty="0"/>
              <a:t> </a:t>
            </a:r>
            <a:r>
              <a:rPr lang="en-US" dirty="0" err="1"/>
              <a:t>вычисленные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:</a:t>
            </a:r>
          </a:p>
          <a:p>
            <a:pPr>
              <a:buClr>
                <a:srgbClr val="8AD0D6"/>
              </a:buClr>
            </a:pPr>
            <a:r>
              <a:rPr lang="en-US" sz="1800" dirty="0"/>
              <a:t>O{∞,∞}, A{0,1}, B{0,4}, </a:t>
            </a:r>
            <a:r>
              <a:rPr lang="en-US" sz="1800" b="1" dirty="0">
                <a:solidFill>
                  <a:srgbClr val="FF0000"/>
                </a:solidFill>
              </a:rPr>
              <a:t>C{1,2}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FF0000"/>
                </a:solidFill>
              </a:rPr>
              <a:t>D{1,3}</a:t>
            </a:r>
            <a:r>
              <a:rPr lang="en-US" sz="1800" dirty="0"/>
              <a:t>, E{3,2}, F{3,3}.</a:t>
            </a:r>
          </a:p>
          <a:p>
            <a:pPr>
              <a:buClr>
                <a:srgbClr val="8AD0D6"/>
              </a:buClr>
            </a:pPr>
            <a:r>
              <a:rPr lang="en-US" sz="1800" dirty="0"/>
              <a:t>С + D = ?</a:t>
            </a:r>
          </a:p>
          <a:p>
            <a:pPr>
              <a:buClr>
                <a:srgbClr val="8AD0D6"/>
              </a:buClr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λ =               = - 1=== 4 mod 5;</a:t>
            </a:r>
          </a:p>
          <a:p>
            <a:pPr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X3 = 16 - (1 + 1) = 4;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Y3 = 4 * (1 - 4) - 2 = 1;</a:t>
            </a:r>
          </a:p>
          <a:p>
            <a:pPr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C + D = {4,1}; - </a:t>
            </a:r>
            <a:r>
              <a:rPr lang="en-US" dirty="0" err="1">
                <a:solidFill>
                  <a:srgbClr val="EBEBEB"/>
                </a:solidFill>
              </a:rPr>
              <a:t>ошибочные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dirty="0" err="1">
                <a:solidFill>
                  <a:srgbClr val="EBEBEB"/>
                </a:solidFill>
              </a:rPr>
              <a:t>координаты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если</a:t>
            </a:r>
            <a:r>
              <a:rPr lang="en-US" dirty="0">
                <a:solidFill>
                  <a:srgbClr val="EBEBEB"/>
                </a:solidFill>
              </a:rPr>
              <a:t> у </a:t>
            </a:r>
            <a:r>
              <a:rPr lang="en-US" dirty="0" err="1">
                <a:solidFill>
                  <a:srgbClr val="EBEBEB"/>
                </a:solidFill>
              </a:rPr>
              <a:t>нас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получились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координаты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точки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которой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не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существует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то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такая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точка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будет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dirty="0" err="1">
                <a:solidFill>
                  <a:srgbClr val="EBEBEB"/>
                </a:solidFill>
              </a:rPr>
              <a:t>обозначаться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dirty="0" err="1">
                <a:solidFill>
                  <a:srgbClr val="EBEBEB"/>
                </a:solidFill>
              </a:rPr>
              <a:t>как</a:t>
            </a:r>
            <a:r>
              <a:rPr lang="en-US" dirty="0">
                <a:solidFill>
                  <a:srgbClr val="EBEBEB"/>
                </a:solidFill>
              </a:rPr>
              <a:t> </a:t>
            </a:r>
            <a:r>
              <a:rPr lang="en-US" dirty="0" err="1">
                <a:solidFill>
                  <a:srgbClr val="EBEBEB"/>
                </a:solidFill>
              </a:rPr>
              <a:t>точка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бесконечности</a:t>
            </a:r>
            <a:r>
              <a:rPr lang="en-US" dirty="0">
                <a:solidFill>
                  <a:srgbClr val="EBEBEB"/>
                </a:solidFill>
              </a:rPr>
              <a:t> -</a:t>
            </a:r>
            <a:r>
              <a:rPr lang="en-US" sz="1800" dirty="0">
                <a:solidFill>
                  <a:srgbClr val="FFFFFF"/>
                </a:solidFill>
              </a:rPr>
              <a:t>O{∞,∞}</a:t>
            </a:r>
            <a:r>
              <a:rPr lang="en-US" dirty="0">
                <a:solidFill>
                  <a:srgbClr val="EBEBEB"/>
                </a:solidFill>
              </a:rPr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3B5E82-82B8-BC96-FA81-EF3E295BB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42960"/>
              </p:ext>
            </p:extLst>
          </p:nvPr>
        </p:nvGraphicFramePr>
        <p:xfrm>
          <a:off x="1120284" y="2017424"/>
          <a:ext cx="747792" cy="73152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747792">
                  <a:extLst>
                    <a:ext uri="{9D8B030D-6E8A-4147-A177-3AD203B41FA5}">
                      <a16:colId xmlns:a16="http://schemas.microsoft.com/office/drawing/2014/main" val="3623804447"/>
                    </a:ext>
                  </a:extLst>
                </a:gridCol>
              </a:tblGrid>
              <a:tr h="226317">
                <a:tc>
                  <a:txBody>
                    <a:bodyPr/>
                    <a:lstStyle/>
                    <a:p>
                      <a:r>
                        <a:rPr lang="en-US" dirty="0"/>
                        <a:t>2 - 3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968178"/>
                  </a:ext>
                </a:extLst>
              </a:tr>
              <a:tr h="226317">
                <a:tc>
                  <a:txBody>
                    <a:bodyPr/>
                    <a:lstStyle/>
                    <a:p>
                      <a:r>
                        <a:rPr lang="en-US" dirty="0"/>
                        <a:t>1 – 1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794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730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FEB6-CCEC-7267-516F-9188AB501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2" y="147918"/>
            <a:ext cx="11820369" cy="65250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Сложение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 P+P</a:t>
            </a:r>
          </a:p>
          <a:p>
            <a:pPr>
              <a:buClr>
                <a:srgbClr val="8AD0D6"/>
              </a:buClr>
            </a:pPr>
            <a:r>
              <a:rPr lang="en-US" dirty="0" err="1"/>
              <a:t>Возьмем</a:t>
            </a:r>
            <a:r>
              <a:rPr lang="en-US" dirty="0"/>
              <a:t> </a:t>
            </a:r>
            <a:r>
              <a:rPr lang="en-US" dirty="0" err="1"/>
              <a:t>вычисленные</a:t>
            </a:r>
            <a:r>
              <a:rPr lang="en-US" dirty="0"/>
              <a:t> </a:t>
            </a:r>
            <a:r>
              <a:rPr lang="en-US" dirty="0" err="1"/>
              <a:t>нами</a:t>
            </a:r>
            <a:r>
              <a:rPr lang="en-US" dirty="0"/>
              <a:t> </a:t>
            </a:r>
            <a:r>
              <a:rPr lang="en-US" dirty="0" err="1"/>
              <a:t>ранее</a:t>
            </a:r>
            <a:r>
              <a:rPr lang="en-US" dirty="0"/>
              <a:t> </a:t>
            </a:r>
            <a:r>
              <a:rPr lang="en-US" dirty="0" err="1"/>
              <a:t>точки</a:t>
            </a:r>
            <a:r>
              <a:rPr lang="en-US" dirty="0"/>
              <a:t>:</a:t>
            </a:r>
          </a:p>
          <a:p>
            <a:pPr>
              <a:buClr>
                <a:srgbClr val="8AD0D6"/>
              </a:buClr>
            </a:pPr>
            <a:r>
              <a:rPr lang="en-US" sz="1800" dirty="0"/>
              <a:t>O{∞,∞}, A{0,1}, B{0,4}, C{1,2}, D{1,3}, </a:t>
            </a:r>
            <a:r>
              <a:rPr lang="en-US" b="1" dirty="0">
                <a:solidFill>
                  <a:srgbClr val="FF0000"/>
                </a:solidFill>
              </a:rPr>
              <a:t>E{3,2}</a:t>
            </a:r>
            <a:r>
              <a:rPr lang="en-US" sz="1800" dirty="0"/>
              <a:t>, F{3,3}.</a:t>
            </a:r>
          </a:p>
          <a:p>
            <a:pPr>
              <a:buClr>
                <a:srgbClr val="8AD0D6"/>
              </a:buClr>
            </a:pPr>
            <a:r>
              <a:rPr lang="en-US" sz="1800" dirty="0"/>
              <a:t>E + E = ?</a:t>
            </a:r>
          </a:p>
          <a:p>
            <a:pPr>
              <a:buClr>
                <a:srgbClr val="8AD0D6"/>
              </a:buClr>
            </a:pPr>
            <a:endParaRPr lang="en-US" sz="1800" dirty="0"/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λ =                  =                  = 4 * 4^-1= 4 * 4 = 1(mod 5);</a:t>
            </a:r>
            <a:endParaRPr lang="en-US" sz="1800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X3 =  1 – 2 * 3 = 0;</a:t>
            </a:r>
            <a:endParaRPr lang="en-US" sz="1800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Y3 = 1 * (3 - 0) - 2 = 1;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EBEBEB"/>
                </a:solidFill>
              </a:rPr>
              <a:t>E + E = A{0,1}; - </a:t>
            </a:r>
            <a:r>
              <a:rPr lang="en-US" dirty="0" err="1">
                <a:solidFill>
                  <a:srgbClr val="EBEBEB"/>
                </a:solidFill>
              </a:rPr>
              <a:t>точка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существует</a:t>
            </a:r>
            <a:r>
              <a:rPr lang="en-US" dirty="0">
                <a:solidFill>
                  <a:srgbClr val="EBEBEB"/>
                </a:solidFill>
              </a:rPr>
              <a:t>, </a:t>
            </a:r>
            <a:r>
              <a:rPr lang="en-US" dirty="0" err="1">
                <a:solidFill>
                  <a:srgbClr val="EBEBEB"/>
                </a:solidFill>
              </a:rPr>
              <a:t>значит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все</a:t>
            </a:r>
            <a:r>
              <a:rPr lang="en-US" dirty="0">
                <a:solidFill>
                  <a:srgbClr val="EBEBEB"/>
                </a:solidFill>
              </a:rPr>
              <a:t> </a:t>
            </a:r>
            <a:r>
              <a:rPr lang="en-US" dirty="0" err="1">
                <a:solidFill>
                  <a:srgbClr val="EBEBEB"/>
                </a:solidFill>
              </a:rPr>
              <a:t>хорошо</a:t>
            </a:r>
            <a:endParaRPr lang="en-US" dirty="0">
              <a:solidFill>
                <a:srgbClr val="EBEBEB"/>
              </a:solidFill>
            </a:endParaRP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32D6FE-474C-AC16-E3CA-892BA8E65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50377"/>
              </p:ext>
            </p:extLst>
          </p:nvPr>
        </p:nvGraphicFramePr>
        <p:xfrm>
          <a:off x="1120285" y="2071854"/>
          <a:ext cx="987369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7369">
                  <a:extLst>
                    <a:ext uri="{9D8B030D-6E8A-4147-A177-3AD203B41FA5}">
                      <a16:colId xmlns:a16="http://schemas.microsoft.com/office/drawing/2014/main" val="3623804447"/>
                    </a:ext>
                  </a:extLst>
                </a:gridCol>
              </a:tblGrid>
              <a:tr h="2263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3*9+2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68178"/>
                  </a:ext>
                </a:extLst>
              </a:tr>
              <a:tr h="2263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2*2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7942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9C204D-BC1E-1826-C24C-A18FF7D97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28564"/>
              </p:ext>
            </p:extLst>
          </p:nvPr>
        </p:nvGraphicFramePr>
        <p:xfrm>
          <a:off x="2557199" y="2071853"/>
          <a:ext cx="987369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7369">
                  <a:extLst>
                    <a:ext uri="{9D8B030D-6E8A-4147-A177-3AD203B41FA5}">
                      <a16:colId xmlns:a16="http://schemas.microsoft.com/office/drawing/2014/main" val="3623804447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68178"/>
                  </a:ext>
                </a:extLst>
              </a:tr>
              <a:tr h="2263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794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43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149E6-0CA9-180F-F701-A3758048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67" y="182555"/>
            <a:ext cx="11747137" cy="6530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:</a:t>
            </a:r>
          </a:p>
          <a:p>
            <a:pPr>
              <a:buClr>
                <a:srgbClr val="8AD0D6"/>
              </a:buClr>
            </a:pPr>
            <a:r>
              <a:rPr lang="en-US" dirty="0"/>
              <a:t>A + B;</a:t>
            </a:r>
          </a:p>
          <a:p>
            <a:pPr>
              <a:buClr>
                <a:srgbClr val="8AD0D6"/>
              </a:buClr>
            </a:pPr>
            <a:r>
              <a:rPr lang="en-US" dirty="0"/>
              <a:t>F + C;</a:t>
            </a:r>
          </a:p>
          <a:p>
            <a:pPr>
              <a:buClr>
                <a:srgbClr val="8AD0D6"/>
              </a:buClr>
            </a:pPr>
            <a:r>
              <a:rPr lang="en-US" dirty="0"/>
              <a:t>D + D;</a:t>
            </a:r>
          </a:p>
          <a:p>
            <a:pPr>
              <a:buClr>
                <a:srgbClr val="8AD0D6"/>
              </a:buClr>
            </a:pPr>
            <a:r>
              <a:rPr lang="en-US" dirty="0"/>
              <a:t>A + A;</a:t>
            </a:r>
          </a:p>
          <a:p>
            <a:pPr>
              <a:buClr>
                <a:srgbClr val="8AD0D6"/>
              </a:buClr>
            </a:pPr>
            <a:r>
              <a:rPr lang="en-US" dirty="0"/>
              <a:t>3E;</a:t>
            </a:r>
          </a:p>
        </p:txBody>
      </p:sp>
    </p:spTree>
    <p:extLst>
      <p:ext uri="{BB962C8B-B14F-4D97-AF65-F5344CB8AC3E}">
        <p14:creationId xmlns:p14="http://schemas.microsoft.com/office/powerpoint/2010/main" val="3737482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Ion</vt:lpstr>
      <vt:lpstr>Введение в эллиптические кривые</vt:lpstr>
      <vt:lpstr>PowerPoint Presentation</vt:lpstr>
      <vt:lpstr>Что такое эллиптическая кривая?  Эллиптическая кривая — это набор точек, описывающихся уравнением Вейерштрасса:  У параметров a,b при этом присутствует условие: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833</cp:revision>
  <dcterms:created xsi:type="dcterms:W3CDTF">2023-08-26T08:48:21Z</dcterms:created>
  <dcterms:modified xsi:type="dcterms:W3CDTF">2023-10-23T08:15:24Z</dcterms:modified>
</cp:coreProperties>
</file>